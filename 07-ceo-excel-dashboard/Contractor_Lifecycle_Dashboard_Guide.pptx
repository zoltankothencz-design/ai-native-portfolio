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0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04040"/>
                </a:solidFill>
                <a:latin typeface="Calibri"/>
              </a:rPr>
              <a:t>Contractors by State (top 11 of ~24)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Contractors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MA</c:v>
                  </c:pt>
                  <c:pt idx="1">
                    <c:v>PA</c:v>
                  </c:pt>
                  <c:pt idx="2">
                    <c:v>MN</c:v>
                  </c:pt>
                  <c:pt idx="3">
                    <c:v>WA</c:v>
                  </c:pt>
                  <c:pt idx="4">
                    <c:v>CO</c:v>
                  </c:pt>
                  <c:pt idx="5">
                    <c:v>TN</c:v>
                  </c:pt>
                  <c:pt idx="6">
                    <c:v>IL</c:v>
                  </c:pt>
                  <c:pt idx="7">
                    <c:v>GA</c:v>
                  </c:pt>
                  <c:pt idx="8">
                    <c:v>NJ</c:v>
                  </c:pt>
                  <c:pt idx="9">
                    <c:v>TX</c:v>
                  </c:pt>
                  <c:pt idx="10">
                    <c:v>CA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  <c:pt idx="10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%</c:v>
                </c:pt>
              </c:strCache>
            </c:strRef>
          </c:tx>
          <c:spPr>
            <a:solidFill>
              <a:srgbClr val="4472C4"/>
            </a:solidFill>
            <a:ln w="3175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 '25</c:v>
                  </c:pt>
                  <c:pt idx="1">
                    <c:v>Nov '25</c:v>
                  </c:pt>
                  <c:pt idx="2">
                    <c:v>Dec '25</c:v>
                  </c:pt>
                  <c:pt idx="3">
                    <c:v>Jan '26</c:v>
                  </c:pt>
                  <c:pt idx="4">
                    <c:v>Feb '26</c:v>
                  </c:pt>
                  <c:pt idx="5">
                    <c:v>Mar '26</c:v>
                  </c:pt>
                  <c:pt idx="6">
                    <c:v>Apr '26</c:v>
                  </c:pt>
                  <c:pt idx="7">
                    <c:v>May '26</c:v>
                  </c:pt>
                  <c:pt idx="8">
                    <c:v>Jun '26</c:v>
                  </c:pt>
                  <c:pt idx="9">
                    <c:v>Jul '26</c:v>
                  </c:pt>
                  <c:pt idx="10">
                    <c:v>Aug '26</c:v>
                  </c:pt>
                  <c:pt idx="11">
                    <c:v>Sep '26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94.5</c:v>
                </c:pt>
                <c:pt idx="1">
                  <c:v>96.3</c:v>
                </c:pt>
                <c:pt idx="2">
                  <c:v>78</c:v>
                </c:pt>
                <c:pt idx="3">
                  <c:v>97.8</c:v>
                </c:pt>
                <c:pt idx="4">
                  <c:v>91.2</c:v>
                </c:pt>
                <c:pt idx="5">
                  <c:v>93.9</c:v>
                </c:pt>
                <c:pt idx="6">
                  <c:v>96.6</c:v>
                </c:pt>
                <c:pt idx="7">
                  <c:v>91.4</c:v>
                </c:pt>
                <c:pt idx="8">
                  <c:v>95</c:v>
                </c:pt>
                <c:pt idx="9">
                  <c:v>94.7</c:v>
                </c:pt>
                <c:pt idx="10">
                  <c:v>94.9</c:v>
                </c:pt>
                <c:pt idx="11">
                  <c:v>96.8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386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 %</c:v>
                </c:pt>
              </c:strCache>
            </c:strRef>
          </c:tx>
          <c:spPr>
            <a:solidFill>
              <a:srgbClr val="ED7D31"/>
            </a:solidFill>
            <a:ln w="3175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55A11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 '25</c:v>
                  </c:pt>
                  <c:pt idx="1">
                    <c:v>Nov '25</c:v>
                  </c:pt>
                  <c:pt idx="2">
                    <c:v>Dec '25</c:v>
                  </c:pt>
                  <c:pt idx="3">
                    <c:v>Jan '26</c:v>
                  </c:pt>
                  <c:pt idx="4">
                    <c:v>Feb '26</c:v>
                  </c:pt>
                  <c:pt idx="5">
                    <c:v>Mar '26</c:v>
                  </c:pt>
                  <c:pt idx="6">
                    <c:v>Apr '26</c:v>
                  </c:pt>
                  <c:pt idx="7">
                    <c:v>May '26</c:v>
                  </c:pt>
                  <c:pt idx="8">
                    <c:v>Jun '26</c:v>
                  </c:pt>
                  <c:pt idx="9">
                    <c:v>Jul '26</c:v>
                  </c:pt>
                  <c:pt idx="10">
                    <c:v>Aug '26</c:v>
                  </c:pt>
                  <c:pt idx="11">
                    <c:v>Sep '26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5.6</c:v>
                </c:pt>
                <c:pt idx="1">
                  <c:v>4.5</c:v>
                </c:pt>
                <c:pt idx="2">
                  <c:v>14.8</c:v>
                </c:pt>
                <c:pt idx="3">
                  <c:v>4.8</c:v>
                </c:pt>
                <c:pt idx="4">
                  <c:v>6.4</c:v>
                </c:pt>
                <c:pt idx="5">
                  <c:v>4.4</c:v>
                </c:pt>
                <c:pt idx="6">
                  <c:v>4.4</c:v>
                </c:pt>
                <c:pt idx="7">
                  <c:v>2.8</c:v>
                </c:pt>
                <c:pt idx="8">
                  <c:v>2.5</c:v>
                </c:pt>
                <c:pt idx="9">
                  <c:v>4</c:v>
                </c:pt>
                <c:pt idx="10">
                  <c:v>6.4</c:v>
                </c:pt>
                <c:pt idx="11">
                  <c:v>6.6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C55A11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Expiring ≤90 days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Insight Global</c:v>
                  </c:pt>
                  <c:pt idx="1">
                    <c:v>Apex Systems</c:v>
                  </c:pt>
                  <c:pt idx="2">
                    <c:v>Robert Half Technology</c:v>
                  </c:pt>
                  <c:pt idx="3">
                    <c:v>ManpowerGroup</c:v>
                  </c:pt>
                  <c:pt idx="4">
                    <c:v>Kelly OCG</c:v>
                  </c:pt>
                  <c:pt idx="5">
                    <c:v>TEKsystems</c:v>
                  </c:pt>
                  <c:pt idx="6">
                    <c:v>Randstad Technologies</c:v>
                  </c:pt>
                  <c:pt idx="7">
                    <c:v>Yoh Managed Solutions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Contractors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$60K–80K</c:v>
                  </c:pt>
                  <c:pt idx="1">
                    <c:v>$80K–100K</c:v>
                  </c:pt>
                  <c:pt idx="2">
                    <c:v>$100K–125K</c:v>
                  </c:pt>
                  <c:pt idx="3">
                    <c:v>$125K–150K</c:v>
                  </c:pt>
                  <c:pt idx="4">
                    <c:v>$150K+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21</c:v>
                </c:pt>
                <c:pt idx="2">
                  <c:v>29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Contractors</c:v>
                </c:pt>
              </c:strCache>
            </c:strRef>
          </c:tx>
          <c:spPr>
            <a:solidFill>
              <a:srgbClr val="A9D1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482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20–29</c:v>
                  </c:pt>
                  <c:pt idx="1">
                    <c:v>30–39</c:v>
                  </c:pt>
                  <c:pt idx="2">
                    <c:v>40–49</c:v>
                  </c:pt>
                  <c:pt idx="3">
                    <c:v>50–59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22</c:v>
                </c:pt>
                <c:pt idx="2">
                  <c:v>20</c:v>
                </c:pt>
                <c:pt idx="3">
                  <c:v>12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482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Contractors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3 mo</c:v>
                  </c:pt>
                  <c:pt idx="1">
                    <c:v>3–6 mo</c:v>
                  </c:pt>
                  <c:pt idx="2">
                    <c:v>6–12 mo</c:v>
                  </c:pt>
                  <c:pt idx="3">
                    <c:v>1–2 yr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8</c:v>
                </c:pt>
                <c:pt idx="2">
                  <c:v>37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Request → AD Profile</c:v>
                  </c:pt>
                  <c:pt idx="1">
                    <c:v>AD Profile → System Access</c:v>
                  </c:pt>
                  <c:pt idx="2">
                    <c:v>System Access → Go-Live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6.26</c:v>
                </c:pt>
                <c:pt idx="2">
                  <c:v>4.52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04040"/>
                </a:solidFill>
                <a:latin typeface="Calibri"/>
              </a:rPr>
              <a:t>Average Days by Onboarding Stage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 d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Avg Stage1</c:v>
                  </c:pt>
                  <c:pt idx="1">
                    <c:v>Avg Stage2</c:v>
                  </c:pt>
                  <c:pt idx="2">
                    <c:v>Avg Stage3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</c:v>
                </c:pt>
                <c:pt idx="1">
                  <c:v>7.2</c:v>
                </c:pt>
                <c:pt idx="2">
                  <c:v>4.9</c:v>
                </c:pt>
              </c:numCache>
            </c:numRef>
          </c:val>
        </c:ser>
        <c:dLbls>
          <c:numFmt formatCode="0.0&quot; d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Contracts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Started</c:v>
                </c:pt>
                <c:pt idx="1">
                  <c:v>Not Required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04040"/>
                </a:solidFill>
                <a:latin typeface="Calibri"/>
              </a:rPr>
              <a:t>Flagged Discrepancies by Type (13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Flags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Status Mismatch</c:v>
                  </c:pt>
                  <c:pt idx="1">
                    <c:v>Missing VMS Record</c:v>
                  </c:pt>
                  <c:pt idx="2">
                    <c:v>End Date Conflict</c:v>
                  </c:pt>
                  <c:pt idx="3">
                    <c:v>Duplicate Active Record</c:v>
                  </c:pt>
                  <c:pt idx="4">
                    <c:v>Termination Lag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SLA Compliance % vs Turnover % (July highlighted)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%</c:v>
                </c:pt>
              </c:strCache>
            </c:strRef>
          </c:tx>
          <c:spPr>
            <a:solidFill>
              <a:srgbClr val="4472C4"/>
            </a:solidFill>
            <a:ln w="3175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 '25</c:v>
                  </c:pt>
                  <c:pt idx="1">
                    <c:v>Nov '25</c:v>
                  </c:pt>
                  <c:pt idx="2">
                    <c:v>Dec '25</c:v>
                  </c:pt>
                  <c:pt idx="3">
                    <c:v>Jan '26</c:v>
                  </c:pt>
                  <c:pt idx="4">
                    <c:v>Feb '26</c:v>
                  </c:pt>
                  <c:pt idx="5">
                    <c:v>Mar '26</c:v>
                  </c:pt>
                  <c:pt idx="6">
                    <c:v>Apr '26</c:v>
                  </c:pt>
                  <c:pt idx="7">
                    <c:v>May '26</c:v>
                  </c:pt>
                  <c:pt idx="8">
                    <c:v>Jun '26</c:v>
                  </c:pt>
                  <c:pt idx="9">
                    <c:v>Jul '26</c:v>
                  </c:pt>
                  <c:pt idx="10">
                    <c:v>Aug '26</c:v>
                  </c:pt>
                  <c:pt idx="11">
                    <c:v>Sep '26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93.5</c:v>
                </c:pt>
                <c:pt idx="1">
                  <c:v>96.8</c:v>
                </c:pt>
                <c:pt idx="2">
                  <c:v>94.2</c:v>
                </c:pt>
                <c:pt idx="3">
                  <c:v>97.1</c:v>
                </c:pt>
                <c:pt idx="4">
                  <c:v>92.6</c:v>
                </c:pt>
                <c:pt idx="5">
                  <c:v>95.9</c:v>
                </c:pt>
                <c:pt idx="6">
                  <c:v>98.3</c:v>
                </c:pt>
                <c:pt idx="7">
                  <c:v>93.8</c:v>
                </c:pt>
                <c:pt idx="8">
                  <c:v>96.5</c:v>
                </c:pt>
                <c:pt idx="9">
                  <c:v>81.9</c:v>
                </c:pt>
                <c:pt idx="10">
                  <c:v>97.2</c:v>
                </c:pt>
                <c:pt idx="11">
                  <c:v>99.4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Turnover %</c:v>
                </c:pt>
              </c:strCache>
            </c:strRef>
          </c:tx>
          <c:spPr>
            <a:solidFill>
              <a:srgbClr val="ED7D31"/>
            </a:solidFill>
            <a:ln w="3175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 '25</c:v>
                  </c:pt>
                  <c:pt idx="1">
                    <c:v>Nov '25</c:v>
                  </c:pt>
                  <c:pt idx="2">
                    <c:v>Dec '25</c:v>
                  </c:pt>
                  <c:pt idx="3">
                    <c:v>Jan '26</c:v>
                  </c:pt>
                  <c:pt idx="4">
                    <c:v>Feb '26</c:v>
                  </c:pt>
                  <c:pt idx="5">
                    <c:v>Mar '26</c:v>
                  </c:pt>
                  <c:pt idx="6">
                    <c:v>Apr '26</c:v>
                  </c:pt>
                  <c:pt idx="7">
                    <c:v>May '26</c:v>
                  </c:pt>
                  <c:pt idx="8">
                    <c:v>Jun '26</c:v>
                  </c:pt>
                  <c:pt idx="9">
                    <c:v>Jul '26</c:v>
                  </c:pt>
                  <c:pt idx="10">
                    <c:v>Aug '26</c:v>
                  </c:pt>
                  <c:pt idx="11">
                    <c:v>Sep '26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4.5</c:v>
                </c:pt>
                <c:pt idx="1">
                  <c:v>3.8</c:v>
                </c:pt>
                <c:pt idx="2">
                  <c:v>5.1</c:v>
                </c:pt>
                <c:pt idx="3">
                  <c:v>3.2</c:v>
                </c:pt>
                <c:pt idx="4">
                  <c:v>4.9</c:v>
                </c:pt>
                <c:pt idx="5">
                  <c:v>3.5</c:v>
                </c:pt>
                <c:pt idx="6">
                  <c:v>2.8</c:v>
                </c:pt>
                <c:pt idx="7">
                  <c:v>5.6</c:v>
                </c:pt>
                <c:pt idx="8">
                  <c:v>4</c:v>
                </c:pt>
                <c:pt idx="9">
                  <c:v>14.3</c:v>
                </c:pt>
                <c:pt idx="10">
                  <c:v>3.9</c:v>
                </c:pt>
                <c:pt idx="11">
                  <c:v>4.6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8463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4846320"/>
            <a:ext cx="45720" cy="1051560"/>
          </a:xfrm>
          <a:prstGeom prst="rect">
            <a:avLst/>
          </a:prstGeom>
          <a:solidFill>
            <a:srgbClr val="4472C4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48463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251960" y="4846320"/>
            <a:ext cx="45720" cy="1051560"/>
          </a:xfrm>
          <a:prstGeom prst="rect">
            <a:avLst/>
          </a:prstGeom>
          <a:solidFill>
            <a:srgbClr val="ED7D31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48463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4846320"/>
            <a:ext cx="45720" cy="1051560"/>
          </a:xfrm>
          <a:prstGeom prst="rect">
            <a:avLst/>
          </a:prstGeom>
          <a:solidFill>
            <a:srgbClr val="A9D18E">
              <a:alpha val="5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LIFECYCLE &amp; SLA TRACKER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Guide to the Dashboard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shows, how to read it, and what every chart means, explained in simple terms.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72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 •  Sample / demo data for illustration purposes only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picture, before we look at any single chart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675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follows every contractor’s journey, from the day they are requested, through onboarding, all the way to their contract end date.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 this data lives in four separate systems (ServiceNow, SAP Fieldglass, Beeline, and Active Directory). This dashboard pulls it into one screen, the way a manager would if they combined all four reports by hand.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 with real Excel PivotTables and Slicers, not a static picture, so it behaves like a live BI dashboard: click a filter, everything on the page updates together.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names, numbers and dates are sample data, generated to demonstrate how a real vendor-operations dashboard would work.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371600"/>
            <a:ext cx="4370832" cy="4937760"/>
          </a:xfrm>
          <a:prstGeom prst="roundRect">
            <a:avLst>
              <a:gd name="adj" fmla="val 1674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26680" y="1737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299" y="189097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266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screen, it answers: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92608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contractors are active right now?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contracts are expiring soon, and with which vendor?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onboarding fast enough, and where does it slow down?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hitting our SLA target month to month?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our two source systems disagree with each other?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It: Click To Filter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has four "slicers", buttons you click to narrow the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9047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64792"/>
            <a:ext cx="2386584" cy="274320"/>
          </a:xfrm>
          <a:prstGeom prst="rect">
            <a:avLst/>
          </a:prstGeom>
          <a:solidFill>
            <a:srgbClr val="D6E2F5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64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093976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93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423160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752344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7523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149047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764792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10712" y="1764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093976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2093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OCG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423160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TEKsystems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98464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08192" y="149047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8192" y="1764792"/>
            <a:ext cx="2386584" cy="274320"/>
          </a:xfrm>
          <a:prstGeom prst="rect">
            <a:avLst/>
          </a:prstGeom>
          <a:solidFill>
            <a:srgbClr val="D6E2F5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81344" y="1764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$100K–125K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08192" y="2093976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81344" y="2093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$80K–100K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69096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78824" y="149047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78824" y="1764792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51976" y="1764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78824" y="2093976"/>
            <a:ext cx="2386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51976" y="2093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246120"/>
            <a:ext cx="6675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77240" y="3566160"/>
            <a:ext cx="603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button (a state, a vendor, a pay band, a gender) and the whole dashboard filters to just that slice.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KPI cards, charts and the contractor table update together, because they all share one underlying data engine (a PivotTable "cache").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selected button again to remove that filter, or use the small filter/eraser icon in a slicer’s corner to reset it.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combine filters across all four slicers at once, e.g. "Female contractors in Texas paid $100K–125K."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360920" y="3246120"/>
            <a:ext cx="4370832" cy="3063240"/>
          </a:xfrm>
          <a:prstGeom prst="roundRect">
            <a:avLst>
              <a:gd name="adj" fmla="val 2388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26680" y="3611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0" descr="C:\Users\User\AppData\Local\Temp\claude\C--Projektek-EXCEL\97d2074e-07c6-4789-b59e-9d38b17432e8\scratchpad\pptx\icons\FiFilt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299" y="3765499"/>
            <a:ext cx="332842" cy="332842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77266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7726680" y="475488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it a real dashboard instead of a snapshot report, anyone can slice the data themselves, live, without touching a formula.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Glance: The KPI Row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headline numbers, always visible at the top of the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545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CONTRACTORS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60904" y="141732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1417320"/>
            <a:ext cx="54864" cy="11887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5496" y="1545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WITHIN 30 DAYS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25496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64608" y="141732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1417320"/>
            <a:ext cx="54864" cy="1188720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1545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ONBOARDING DAYS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 days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68312" y="141732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68312" y="1417320"/>
            <a:ext cx="54864" cy="118872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32904" y="1545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SLA COMPLIANCE %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232904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272016" y="141732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72016" y="1417320"/>
            <a:ext cx="54864" cy="11887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36608" y="1545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DISCREPANCY FLAGS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436608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11277295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3255264"/>
            <a:ext cx="146304" cy="14630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3145536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contractors: 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contractors are currently engaged.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3831336"/>
            <a:ext cx="146304" cy="14630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1560" y="372160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within 30 days: 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that need renewal action very soon.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" y="4407408"/>
            <a:ext cx="146304" cy="146304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1560" y="42976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onboarding days: 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long, on average, it takes a new contractor to go live.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" y="4983480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51560" y="4873752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SLA compliance %: 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performance for the most recent month.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7240" y="5559552"/>
            <a:ext cx="146304" cy="14630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51560" y="5449824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discrepancy flags: 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where two source systems disagree, needs review.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by State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active contractor population is located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C:\Users\User\AppData\Local\Temp\claude\C--Projektek-EXCEL\97d2074e-07c6-4789-b59e-9d38b17432e8\scratchpad\pptx\icons\FiMap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5380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4475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ranked bar chart shows the active contractor headcount for every state, lowest to highest.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6263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685800" y="2514600"/>
          <a:ext cx="58064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537960" y="2331720"/>
            <a:ext cx="5193792" cy="3931920"/>
          </a:xfrm>
          <a:prstGeom prst="roundRect">
            <a:avLst>
              <a:gd name="adj" fmla="val 1860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858000" y="265176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and Texas have the largest contractor populations (10 and 7).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 and Georgia follow with 6 and 5.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~20 states each have 1–4 contractors, a long, thin tail typical of a distributed remote workforce.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state bar to filter every other chart and KPI to just that state.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KPI / CPI Compliance Trend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service-level performance over the last 12 months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4066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5544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623560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9770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23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in Dec 2025: coincides with a ServiceNow PPM workflow migration.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C:\Users\User\AppData\Local\Temp\claude\C--Projektek-EXCEL\97d2074e-07c6-4789-b59e-9d38b17432e8\scratchpad\pptx\icons\FiActivit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55280" y="242316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month’s SLA / KPI / CPI compliance percentage.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automatically finds the lowest month and explains it in the callout box below the chart, that narrative updates if the filtered data changes.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month (Sep ’26) is back up to 96.8%, matching the KPI card.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is a click-to-filter dot chart: clicking a month filters the rest of the dashboard to contractors whose onboarding request falls in that month.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Turnover Trend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contractors left, month over month, lower is better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4066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5544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623560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9770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23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in Dec 2025: a client-side budget freeze triggered early terminations.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C:\Users\User\AppData\Local\Temp\claude\C--Projektek-EXCEL\97d2074e-07c6-4789-b59e-9d38b17432e8\scratchpad\pptx\icons\FiRepea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55280" y="242316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the SLA trend, but here a spike (not a dip) is the bad outcome, so the dashboard highlights the highest month instead of the lowest.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 spiked to 14.8%, nearly 3x a normal month, and is explained automatically in the callout.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year sits in a healthy 2.5–6.6% band.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SLA and turnover side by side quickly shows whether a rough month was a one-off or the start of a trend.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Expiring Within 90 Days, by Vendor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staffing vendors have the most renewal work coming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AlertOctag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every contract ending in the next 90 days, grouped by the vendor / staffing partner who supplied that contractor.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Yoh Managed Solutions, Randstad, TEKsystems and Kelly OCG each have 5–6 renewals to plan for, the biggest near-term workload.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vendor-level view; the KPI card at the top shows the tighter, more urgent 30-day window.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bar to see just that vendor’s contractors everywhere else on the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Band Distribution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contractor workforce is spread across pay bands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Pie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4 in 10 contractors (29 of 78) sit in the $100K–125K band, the largest single group.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$80K–100K is the second-largest band with 21 contractors.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$125K–150K and $150K+ bands together make up the smallest, most senior/specialist slice.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HR &amp; Workforce Analytics section, useful for budget and rate-card conversations with vendors.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profile of the current contractor workforce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contractors are in their 30s (22) and 40s (20), together well over half the workforce.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(20–29) and older (60+) contractors are the smaller groups, 15 and 9 respectively.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alongside Gender and Pay Band as one of three demographic sub-charts on the same card in the workbook.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every slicer, so you can check the age mix within any state, vendor, or pay band.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Report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contractors have been on assignment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half the workforce (37 of 78) has been on assignment for 6–12 months, the most common tenure band.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26 contractors have been engaged 1–2 years.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group is brand-new (under 3 months: 7 contractors).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read on workforce stability, and on how many contractors are approaching common renewal or conversion decision points.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Lifecycle Funnel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days spent in each onboarding stage, request to go-live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BarChart2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stages: request received → Active Directory profile created → system access granted → go-live.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stage, "AD Profile → System Access," is the slowest at 6.3 days on average, the bottleneck.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stages add up to 16.4 days, matching the "Avg Onboarding Days" KPI card.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come from a hidden helper pivot, so this chart still reacts to every slicer even though it isn’t a plain bar-from-table chart.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Discrepancy Flag 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whose two source systems disagree on status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DISCREPANCY FLAG LIST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6400800" cy="3977640"/>
          </a:xfrm>
          <a:prstGeom prst="roundRect">
            <a:avLst>
              <a:gd name="adj" fmla="val 1839"/>
            </a:avLst>
          </a:prstGeom>
          <a:solidFill>
            <a:srgbClr val="F2F5FB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Young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Kelly OCG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VMS Record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786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Mitchell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Apex Systems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Lag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9626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Hall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Insight Global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Mismatch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467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Perez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Kelly OCG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 Conflict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307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Collins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Apex Systems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 Conflict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14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Anderson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Robert Half Technology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Lag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988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Baker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Robert Half Technology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 Conflict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828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Adams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TEKsystems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Lag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2669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Edwards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Kelly OCG   -   </a:t>
            </a:r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 Conflict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(13 flagged) lives on the Discrepancies sheet, shown here as a static preview, not slicer-filtered.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C:\Users\User\AppData\Local\Temp\claude\C--Projektek-EXCEL\97d2074e-07c6-4789-b59e-9d38b17432e8\scratchpad\pptx\icons\FiAlertTriang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"discrepancy" means the two source systems tell a different story for the same contractor, e.g. one says active, one says terminated.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78 contractors (about 1 in 6) currently have an open flag, the same number shown on the KPI card.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types include Termination Lag, End Date Conflict, Status Mismatch, and Missing VMS Record.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data-quality checklist: each row is a real-world follow-up task for the vendor-ops team.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Contractors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sortable name list that always matches your current filters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583680" cy="41148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2194560"/>
                <a:gridCol w="1188720"/>
              </a:tblGrid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Amanda Baker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Half 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$100K–125K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Amanda Carter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Jersey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Yoh Managed Solutions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$150K+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Amanda Clark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$100K–125K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Amanda Hall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Illinois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$80K–100K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Andrew Baker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Half 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$60K–80K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Ashley Stewart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Half 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$125K–150K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989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list: 77 rows, live-connected to all four slicers, sorted here by Contractor name.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C:\Users\User\AppData\Local\Temp\claude\C--Projektek-EXCEL\97d2074e-07c6-4789-b59e-9d38b17432e8\scratchpad\pptx\icons\FiLayou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genuine PivotTable, not a picture, click a column header to re-sort it.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the same four slicers as every chart, so it always mirrors your current filter selection.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 "drill-through": after narrowing the dashboard with filters, this is where you see exactly who those contractors are.</a:t>
            </a:r>
            <a:endParaRPr lang="en-US" sz="12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shown: Contractor, State, Vendor, and Pay Band.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Insights: What’s Different Here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worksheet that turns the raw data into four specific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675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Dashboard sheet shows what is happening, this sheet asks why, and turns each answer into a concrete recommendation.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the exact same shared PivotCache and slicers as the Dashboard, so every chart here reacts to the same four filter buttons.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cards follow the same pattern: one chart, a short explanation with the real underlying numbers, and a one-line "Recommend:" action.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mining the Data, SlaTrend and Discrepancies sheets directly, not by eyeballing the dashboard’s visual summary, every number here traces back to a real cell.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371600"/>
            <a:ext cx="4370832" cy="4937760"/>
          </a:xfrm>
          <a:prstGeom prst="roundRect">
            <a:avLst>
              <a:gd name="adj" fmla="val 1674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26680" y="1737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AlertTriang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299" y="189097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266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findings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92608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Stage 2 Bottleneck, which step actually slows contractors down.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Pipeline Risk, contracts expiring soon with no renewal started.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Type Concentration, which mismatch type dominates the flag list.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SLA / Turnover Co-Event, a service dip and an exit spike in the same month.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Onboarding Stage 2 Bottleneck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onboarding step actually slows contractors down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2, AD account provisioning, averages 7.2 days, 40% of the full 17.9-day onboarding time and the slowest of the three stages.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contractors (29 of 78) spend more than 8 days on this stage alone.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OCG (8.8 days) and Apex Systems (8.0 days) are the slowest vendors here; ManpowerGroup (5.5 days) is the fastest.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a 5-day Stage 2 SLA, a weekly vendor scorecard, and an AD-provisioning automation review for the two slowest vendors.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Renewal Pipeline Risk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expiring soon that have no renewal in motion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Expiring ≤ 30 Days, by Renewal Status (14 total)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463040" y="201168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C:\Users\User\AppData\Local\Temp\claude\C--Projektek-EXCEL\97d2074e-07c6-4789-b59e-9d38b17432e8\scratchpad\pptx\icons\FiCalend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contracts expire within the next 30 days.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them, 71%, show no renewal activity at all (Not Started); only 4 are marked Not Required, and none are In Process.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current pace, most of these near-term expirations will hit their deadline with no active renewal underway.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move the renewal-alert threshold from 30 to 45–60 days, giving vendors more runway to act before a contract lapses.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Discrepancy Type Concentration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kind of System A / System B mismatch happens most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Projektek-EXCEL\97d2074e-07c6-4789-b59e-9d38b17432e8\scratchpad\pptx\icons\FiAlertOctag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55280" y="24231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78 contractors are flagged for a mismatch between System A and System B.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Active Record and Termination Lag together account for 10 of the 13 flags, 77% of all discrepancies.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Half Technology has the highest flag rate (3 of 9, 33%); Insight Global has the most flags in absolute terms (4 of 15).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daily automated reconciliation targeted specifically at duplicate-record and termination-lag mismatches, replacing the current weekly manual review.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4C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4: July 2026 SLA / Turnover Co-Event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dip and a turnover spike landing in the same month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4066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5544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623560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9770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23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from a separate aggregated source, not slicer-filtered.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1F3864"/>
          </a:solidFill>
          <a:ln w="12700">
            <a:solidFill>
              <a:srgbClr val="C9D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FD6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C:\Users\User\AppData\Local\Temp\claude\C--Projektek-EXCEL\97d2074e-07c6-4789-b59e-9d38b17432e8\scratchpad\pptx\icons\FiActivit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55280" y="242316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SLA compliance (81.9%) sits 13.5 points below the 11-month average of 95.4%, the sharpest drop in the whole trend.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the same month (14.3%) is more than 3x the 11-month average of 4.2%.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moving together points to resource contention: a seasonal offboarding wave likely competing for the same team’s onboarding capacity.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temporary resource reallocation or external support in known project-closeout months.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C:\Users\User\AppData\Local\Temp\claude\C--Projektek-EXCEL\97d2074e-07c6-4789-b59e-9d38b17432e8\scratchpad\pptx\icons\FiGri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063" y="23763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four systems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118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manually combining ServiceNow, Fieldglass/Beeline, and Active Directory reports.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2044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User\AppData\Local\Temp\claude\C--Projektek-EXCEL\97d2074e-07c6-4789-b59e-9d38b17432e8\scratchpad\pptx\icons\FiFilt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543" y="237634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cross-filtering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749040" y="36118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Excel Slicers + a shared PivotTable engine, click once, everything updates.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3796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User\AppData\Local\Temp\claude\C--Projektek-EXCEL\97d2074e-07c6-4789-b59e-9d38b17432e8\scratchpad\pptx\icons\FiActivit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023" y="237634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4652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root-cause notes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36118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and turnover dips/spikes are called out automatically, not just plotted.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91540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3544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C:\Users\User\AppData\Local\Temp\claude\C--Projektek-EXCEL\97d2074e-07c6-4789-b59e-9d38b17432e8\scratchpad\pptx\icons\FiAlertTriang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503" y="237634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400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data-quality safety net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36118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Discrepancy Flag List surfaces the 13 records that need a manual look.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Lifecycle &amp; SLA Tracker  •  Sample data for illustration purposes only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2026-09-08T12:43:03Z</dcterms:created>
  <dcterms:modified xsi:type="dcterms:W3CDTF">2026-09-08T12:43:03Z</dcterms:modified>
</cp:coreProperties>
</file>